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42fc841e204ab1" /><Relationship Type="http://schemas.openxmlformats.org/officeDocument/2006/relationships/extended-properties" Target="/docProps/app.xml" Id="R7a425f901d6f463b" /><Relationship Type="http://schemas.openxmlformats.org/officeDocument/2006/relationships/officeDocument" Target="/ppt/presentation.xml" Id="Rac8e3fec94224a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a8aaf7305e472f"/>
  </p:sldMasterIdLst>
  <p:notesMasterIdLst>
    <p:notesMasterId xmlns:r="http://schemas.openxmlformats.org/officeDocument/2006/relationships" r:id="Rbf7b39b86fe740c7"/>
  </p:notesMasterIdLst>
  <p:sldIdLst>
    <p:sldId xmlns:r="http://schemas.openxmlformats.org/officeDocument/2006/relationships" id="256" r:id="Re5a32bbdb46144c8"/>
    <p:sldId xmlns:r="http://schemas.openxmlformats.org/officeDocument/2006/relationships" id="257" r:id="R569271cb9f8d44c2"/>
    <p:sldId xmlns:r="http://schemas.openxmlformats.org/officeDocument/2006/relationships" id="258" r:id="R72dbe0b8f89c443a"/>
    <p:sldId xmlns:r="http://schemas.openxmlformats.org/officeDocument/2006/relationships" id="259" r:id="R0ec6e62051934ccb"/>
    <p:sldId xmlns:r="http://schemas.openxmlformats.org/officeDocument/2006/relationships" id="260" r:id="Rdbb8524752354a78"/>
    <p:sldId xmlns:r="http://schemas.openxmlformats.org/officeDocument/2006/relationships" id="261" r:id="R4fde1db6fd1c40b7"/>
    <p:sldId xmlns:r="http://schemas.openxmlformats.org/officeDocument/2006/relationships" id="262" r:id="R9b6c522e37374079"/>
    <p:sldId xmlns:r="http://schemas.openxmlformats.org/officeDocument/2006/relationships" id="263" r:id="R5e847200378849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ffcd96b7c5411b" /><Relationship Type="http://schemas.openxmlformats.org/officeDocument/2006/relationships/slideMaster" Target="/ppt/slideMasters/slideMaster1.xml" Id="Ra3a8aaf7305e472f" /><Relationship Type="http://schemas.openxmlformats.org/officeDocument/2006/relationships/notesMaster" Target="/ppt/notesMasters/notesMaster1.xml" Id="Rbf7b39b86fe740c7" /><Relationship Type="http://schemas.openxmlformats.org/officeDocument/2006/relationships/presProps" Target="/ppt/presProps.xml" Id="R0470b82d42d74ca9" /><Relationship Type="http://schemas.openxmlformats.org/officeDocument/2006/relationships/tableStyles" Target="/ppt/tableStyles.xml" Id="R7e7b94df0ad64b2e" /><Relationship Type="http://schemas.openxmlformats.org/officeDocument/2006/relationships/slide" Target="/ppt/slides/slide1.xml" Id="Re5a32bbdb46144c8" /><Relationship Type="http://schemas.openxmlformats.org/officeDocument/2006/relationships/slide" Target="/ppt/slides/slide2.xml" Id="R569271cb9f8d44c2" /><Relationship Type="http://schemas.openxmlformats.org/officeDocument/2006/relationships/slide" Target="/ppt/slides/slide3.xml" Id="R72dbe0b8f89c443a" /><Relationship Type="http://schemas.openxmlformats.org/officeDocument/2006/relationships/slide" Target="/ppt/slides/slide4.xml" Id="R0ec6e62051934ccb" /><Relationship Type="http://schemas.openxmlformats.org/officeDocument/2006/relationships/slide" Target="/ppt/slides/slide5.xml" Id="Rdbb8524752354a78" /><Relationship Type="http://schemas.openxmlformats.org/officeDocument/2006/relationships/slide" Target="/ppt/slides/slide6.xml" Id="R4fde1db6fd1c40b7" /><Relationship Type="http://schemas.openxmlformats.org/officeDocument/2006/relationships/slide" Target="/ppt/slides/slide7.xml" Id="R9b6c522e37374079" /><Relationship Type="http://schemas.openxmlformats.org/officeDocument/2006/relationships/slide" Target="/ppt/slides/slide8.xml" Id="R5e847200378849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8a74bcc7ed4e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495f9b845d484e" /><Relationship Type="http://schemas.openxmlformats.org/officeDocument/2006/relationships/notesMaster" Target="/ppt/notesMasters/notesMaster1.xml" Id="R1c22940b45714c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2eca8687f4f91" /><Relationship Type="http://schemas.openxmlformats.org/officeDocument/2006/relationships/notesMaster" Target="/ppt/notesMasters/notesMaster1.xml" Id="R87b0a8d1e9ab4b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f6b4e4b4764219" /><Relationship Type="http://schemas.openxmlformats.org/officeDocument/2006/relationships/notesMaster" Target="/ppt/notesMasters/notesMaster1.xml" Id="Rc951fe9845184e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a8a066b02e4aa3" /><Relationship Type="http://schemas.openxmlformats.org/officeDocument/2006/relationships/notesMaster" Target="/ppt/notesMasters/notesMaster1.xml" Id="R9ec6bcadfb0040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291ca329a64899" /><Relationship Type="http://schemas.openxmlformats.org/officeDocument/2006/relationships/notesMaster" Target="/ppt/notesMasters/notesMaster1.xml" Id="Ra71ab9be763e4d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cfa65886864662" /><Relationship Type="http://schemas.openxmlformats.org/officeDocument/2006/relationships/notesMaster" Target="/ppt/notesMasters/notesMaster1.xml" Id="R46d56139c97f44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10742222b64e6f" /><Relationship Type="http://schemas.openxmlformats.org/officeDocument/2006/relationships/notesMaster" Target="/ppt/notesMasters/notesMaster1.xml" Id="Rbfea8549687341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c1b531b2ca423b" /><Relationship Type="http://schemas.openxmlformats.org/officeDocument/2006/relationships/notesMaster" Target="/ppt/notesMasters/notesMaster1.xml" Id="R82b5bfd5b4c6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Assignment4 -Multi-AZ Resilience.pdf</a:t>
            </a:r>
          </a:p>
          <a:p xmlns:a="http://schemas.openxmlformats.org/drawingml/2006/main">
            <a:r>
              <a:t>Course lab reference: EC2_ALB_ASG_MultiAZ_Resilience.pdf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lab04/create_app_stack.sh; EC2_ALB_ASG_MultiAZ_Resilience.pdf, Architecture 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Implementation: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images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Configuration source: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lab04/testing/chaos_test_uploader_1792080610.csv; lab04/testing/chaos_test_uploader_1792080780.csv</a:t>
            </a:r>
          </a:p>
          <a:p xmlns:a="http://schemas.openxmlformats.org/drawingml/2006/main">
            <a:r>
              <a:t>Console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source: lab04/testing/chaos_test.py</a:t>
            </a:r>
          </a:p>
          <a:p xmlns:a="http://schemas.openxmlformats.org/drawingml/2006/main">
            <a:r>
              <a:t>Timing source: lab04/testing/chaos_test_uploader_1792080610.csv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sources: lab04/create_app_stack.sh; lab04/delete_app_stack.sh</a:t>
            </a:r>
          </a:p>
          <a:p xmlns:a="http://schemas.openxmlformats.org/drawingml/2006/main">
            <a:r>
              <a:t>Cleanup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4813a2a3240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61bd75cff45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069878d864a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937bf17fc47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78011f49845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7a01c16884e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599B17-C7AA-400F-8DAE-41B0B69196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8ADD07-CAD3-465B-A185-882C86B32F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31A183-B9EF-491B-BB5A-51852EFE9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926B21-E685-4F24-AF4F-B2D8D6E8D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C86542-7916-4FC7-ACE7-E4D954971A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B0D6CE-FD46-4E53-90FB-A15E1C3599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63EE12-D457-496D-8DD0-AE31E92254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382921-B9D4-4C24-91FE-0FBECB3BBD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78EA32-3873-4FB8-9021-59A5D1539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A6BD85-0844-45B1-8E56-5485EBB33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cbfddddcc8458b" /><Relationship Type="http://schemas.openxmlformats.org/officeDocument/2006/relationships/slideLayout" Target="/ppt/slideLayouts/slideLayout1.xml" Id="Rf3d6353dbf074606" /><Relationship Type="http://schemas.openxmlformats.org/officeDocument/2006/relationships/slideLayout" Target="/ppt/slideLayouts/slideLayout2.xml" Id="R008dec2d1f534819" /><Relationship Type="http://schemas.openxmlformats.org/officeDocument/2006/relationships/slideLayout" Target="/ppt/slideLayouts/slideLayout3.xml" Id="R376ce7dbddbe49fb" /><Relationship Type="http://schemas.openxmlformats.org/officeDocument/2006/relationships/slideLayout" Target="/ppt/slideLayouts/slideLayout4.xml" Id="R022ef813f82b44d3" /><Relationship Type="http://schemas.openxmlformats.org/officeDocument/2006/relationships/slideLayout" Target="/ppt/slideLayouts/slideLayout5.xml" Id="Rf27d6cd6d9274c29" /><Relationship Type="http://schemas.openxmlformats.org/officeDocument/2006/relationships/slideLayout" Target="/ppt/slideLayouts/slideLayout6.xml" Id="R234a759bb67f4b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6353dbf074606"/>
    <p:sldLayoutId xmlns:r="http://schemas.openxmlformats.org/officeDocument/2006/relationships" id="2147483650" r:id="R008dec2d1f534819"/>
    <p:sldLayoutId xmlns:r="http://schemas.openxmlformats.org/officeDocument/2006/relationships" id="2147483651" r:id="R376ce7dbddbe49fb"/>
    <p:sldLayoutId xmlns:r="http://schemas.openxmlformats.org/officeDocument/2006/relationships" id="2147483652" r:id="R022ef813f82b44d3"/>
    <p:sldLayoutId xmlns:r="http://schemas.openxmlformats.org/officeDocument/2006/relationships" id="2147483653" r:id="Rf27d6cd6d9274c29"/>
    <p:sldLayoutId xmlns:r="http://schemas.openxmlformats.org/officeDocument/2006/relationships" id="2147483654" r:id="R234a759bb67f4b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ac5a2ecc44b0b" /><Relationship Type="http://schemas.openxmlformats.org/officeDocument/2006/relationships/notesSlide" Target="/ppt/notesSlides/notesSlide1.xml" Id="Rf9de62788ed940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546170d274cd8" /><Relationship Type="http://schemas.openxmlformats.org/officeDocument/2006/relationships/notesSlide" Target="/ppt/notesSlides/notesSlide2.xml" Id="R2f978e03090648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2fab1ba804151" /><Relationship Type="http://schemas.openxmlformats.org/officeDocument/2006/relationships/image" Target="/ppt/media/image.png" Id="Rb3e4b183177541b5" /><Relationship Type="http://schemas.openxmlformats.org/officeDocument/2006/relationships/notesSlide" Target="/ppt/notesSlides/notesSlide3.xml" Id="R9653d90d06744f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9f088c07d4752" /><Relationship Type="http://schemas.openxmlformats.org/officeDocument/2006/relationships/image" Target="/ppt/media/image2.png" Id="R67d0d70e771847cf" /><Relationship Type="http://schemas.openxmlformats.org/officeDocument/2006/relationships/image" Target="/ppt/media/image3.png" Id="R4fd2e1599f8a47e2" /><Relationship Type="http://schemas.openxmlformats.org/officeDocument/2006/relationships/notesSlide" Target="/ppt/notesSlides/notesSlide4.xml" Id="R15d585a52afc47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a2992ac424c92" /><Relationship Type="http://schemas.openxmlformats.org/officeDocument/2006/relationships/image" Target="/ppt/media/image4.png" Id="R884dc08b6c5c453f" /><Relationship Type="http://schemas.openxmlformats.org/officeDocument/2006/relationships/notesSlide" Target="/ppt/notesSlides/notesSlide5.xml" Id="Re59bcd5b511841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9dfc406814133" /><Relationship Type="http://schemas.openxmlformats.org/officeDocument/2006/relationships/chart" Target="/ppt/slides/charts/chart1.xml" Id="R99bb838c789947cf" /><Relationship Type="http://schemas.openxmlformats.org/officeDocument/2006/relationships/image" Target="/ppt/media/image5.png" Id="R2f351578c23b41dc" /><Relationship Type="http://schemas.openxmlformats.org/officeDocument/2006/relationships/image" Target="/ppt/media/image6.png" Id="Rf5310ee91b954117" /><Relationship Type="http://schemas.openxmlformats.org/officeDocument/2006/relationships/notesSlide" Target="/ppt/notesSlides/notesSlide6.xml" Id="R8a15032acf1e4a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30d428feb4490a" /><Relationship Type="http://schemas.openxmlformats.org/officeDocument/2006/relationships/notesSlide" Target="/ppt/notesSlides/notesSlide7.xml" Id="R1986e1978f674e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c3820e52f4231" /><Relationship Type="http://schemas.openxmlformats.org/officeDocument/2006/relationships/image" Target="/ppt/media/image7.png" Id="Rdcf578296d2648c1" /><Relationship Type="http://schemas.openxmlformats.org/officeDocument/2006/relationships/notesSlide" Target="/ppt/notesSlides/notesSlide8.xml" Id="R682f150701e3443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Measured outage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180 s SLO run</c:v>
                </c:pt>
                <c:pt idx="1">
                  <c:v>60 s tightened SLO run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77.49</c:v>
                </c:pt>
                <c:pt idx="1">
                  <c:v>81.57</c:v>
                </c:pt>
              </c:numCache>
            </c:numRef>
          </c:val>
        </c:ser>
        <c:ser>
          <c:idx val="1"/>
          <c:order val="1"/>
          <c:tx>
            <c:v>SLO threshold</c:v>
          </c:tx>
          <c:spPr>
            <a:solidFill xmlns:a="http://schemas.openxmlformats.org/drawingml/2006/main">
              <a:srgbClr val="F59E0B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180 s SLO run</c:v>
                </c:pt>
                <c:pt idx="1">
                  <c:v>60 s tightened SLO run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180</c:v>
                </c:pt>
                <c:pt idx="1">
                  <c:v>60</c:v>
                </c:pt>
              </c:numCache>
            </c:numRef>
          </c:val>
        </c:ser>
        <c:dLbls>
          <c:numFmt formatCode="0.00&quot; s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40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89F83-DAF9-4A58-B2F7-4B39AF73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86F52-4E26-472B-97EC-7ED756FC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ITMO-444 · LAB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5F0B8-572C-4A40-B0D2-7581DB2C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</a:defRPr>
            </a:defPPr>
            <a:lvl1pPr algn="l">
              <a:defRPr sz="3675" b="1">
                <a:solidFill>
                  <a:srgbClr val="FFFFFF"/>
                </a:solidFill>
              </a:defRPr>
            </a:lvl1pPr>
            <a:lvl2pPr algn="l">
              <a:defRPr sz="3675" b="1">
                <a:solidFill>
                  <a:srgbClr val="FFFFFF"/>
                </a:solidFill>
              </a:defRPr>
            </a:lvl2pPr>
            <a:lvl3pPr algn="l">
              <a:defRPr sz="3675" b="1">
                <a:solidFill>
                  <a:srgbClr val="FFFFFF"/>
                </a:solidFill>
              </a:defRPr>
            </a:lvl3pPr>
            <a:lvl4pPr algn="l">
              <a:defRPr sz="3675" b="1">
                <a:solidFill>
                  <a:srgbClr val="FFFFFF"/>
                </a:solidFill>
              </a:defRPr>
            </a:lvl4pPr>
            <a:lvl5pPr algn="l">
              <a:defRPr sz="3675" b="1">
                <a:solidFill>
                  <a:srgbClr val="FFFFFF"/>
                </a:solidFill>
              </a:defRPr>
            </a:lvl5pPr>
            <a:lvl6pPr algn="l">
              <a:defRPr sz="3675" b="1">
                <a:solidFill>
                  <a:srgbClr val="FFFFFF"/>
                </a:solidFill>
              </a:defRPr>
            </a:lvl6pPr>
            <a:lvl7pPr algn="l">
              <a:defRPr sz="3675" b="1">
                <a:solidFill>
                  <a:srgbClr val="FFFFFF"/>
                </a:solidFill>
              </a:defRPr>
            </a:lvl7pPr>
            <a:lvl8pPr algn="l">
              <a:defRPr sz="3675" b="1">
                <a:solidFill>
                  <a:srgbClr val="FFFFFF"/>
                </a:solidFill>
              </a:defRPr>
            </a:lvl8pPr>
            <a:lvl9pPr algn="l">
              <a:defRPr sz="3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Multi-AZ 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5C752-6EBC-4D54-96A0-62E94F31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CBD5E1"/>
                </a:solidFill>
              </a:defRPr>
            </a:defPPr>
            <a:lvl1pPr algn="l">
              <a:defRPr sz="2025" b="0">
                <a:solidFill>
                  <a:srgbClr val="CBD5E1"/>
                </a:solidFill>
              </a:defRPr>
            </a:lvl1pPr>
            <a:lvl2pPr algn="l">
              <a:defRPr sz="2025" b="0">
                <a:solidFill>
                  <a:srgbClr val="CBD5E1"/>
                </a:solidFill>
              </a:defRPr>
            </a:lvl2pPr>
            <a:lvl3pPr algn="l">
              <a:defRPr sz="2025" b="0">
                <a:solidFill>
                  <a:srgbClr val="CBD5E1"/>
                </a:solidFill>
              </a:defRPr>
            </a:lvl3pPr>
            <a:lvl4pPr algn="l">
              <a:defRPr sz="2025" b="0">
                <a:solidFill>
                  <a:srgbClr val="CBD5E1"/>
                </a:solidFill>
              </a:defRPr>
            </a:lvl4pPr>
            <a:lvl5pPr algn="l">
              <a:defRPr sz="2025" b="0">
                <a:solidFill>
                  <a:srgbClr val="CBD5E1"/>
                </a:solidFill>
              </a:defRPr>
            </a:lvl5pPr>
            <a:lvl6pPr algn="l">
              <a:defRPr sz="2025" b="0">
                <a:solidFill>
                  <a:srgbClr val="CBD5E1"/>
                </a:solidFill>
              </a:defRPr>
            </a:lvl6pPr>
            <a:lvl7pPr algn="l">
              <a:defRPr sz="2025" b="0">
                <a:solidFill>
                  <a:srgbClr val="CBD5E1"/>
                </a:solidFill>
              </a:defRPr>
            </a:lvl7pPr>
            <a:lvl8pPr algn="l">
              <a:defRPr sz="2025" b="0">
                <a:solidFill>
                  <a:srgbClr val="CBD5E1"/>
                </a:solidFill>
              </a:defRPr>
            </a:lvl8pPr>
            <a:lvl9pPr algn="l">
              <a:defRPr sz="2025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BD5E1"/>
                </a:solidFill>
              </a:defRPr>
            </a:pPr>
            <a:r>
              <a:rPr sz="2025" b="0">
                <a:solidFill>
                  <a:srgbClr val="CBD5E1"/>
                </a:solidFill>
              </a:rPr>
              <a:t>ALB, Auto Scaling Groups, and recovery-time SLOs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E1A9A-E653-4227-BDC0-1D488348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Jay 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A178E-99B3-4FB3-A02C-3997676C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93C5FD"/>
                </a:solidFill>
              </a:defRPr>
            </a:defPPr>
            <a:lvl1pPr algn="l">
              <a:defRPr sz="1200" b="0">
                <a:solidFill>
                  <a:srgbClr val="93C5FD"/>
                </a:solidFill>
              </a:defRPr>
            </a:lvl1pPr>
            <a:lvl2pPr algn="l">
              <a:defRPr sz="1200" b="0">
                <a:solidFill>
                  <a:srgbClr val="93C5FD"/>
                </a:solidFill>
              </a:defRPr>
            </a:lvl2pPr>
            <a:lvl3pPr algn="l">
              <a:defRPr sz="1200" b="0">
                <a:solidFill>
                  <a:srgbClr val="93C5FD"/>
                </a:solidFill>
              </a:defRPr>
            </a:lvl3pPr>
            <a:lvl4pPr algn="l">
              <a:defRPr sz="1200" b="0">
                <a:solidFill>
                  <a:srgbClr val="93C5FD"/>
                </a:solidFill>
              </a:defRPr>
            </a:lvl4pPr>
            <a:lvl5pPr algn="l">
              <a:defRPr sz="1200" b="0">
                <a:solidFill>
                  <a:srgbClr val="93C5FD"/>
                </a:solidFill>
              </a:defRPr>
            </a:lvl5pPr>
            <a:lvl6pPr algn="l">
              <a:defRPr sz="1200" b="0">
                <a:solidFill>
                  <a:srgbClr val="93C5FD"/>
                </a:solidFill>
              </a:defRPr>
            </a:lvl6pPr>
            <a:lvl7pPr algn="l">
              <a:defRPr sz="1200" b="0">
                <a:solidFill>
                  <a:srgbClr val="93C5FD"/>
                </a:solidFill>
              </a:defRPr>
            </a:lvl7pPr>
            <a:lvl8pPr algn="l">
              <a:defRPr sz="1200" b="0">
                <a:solidFill>
                  <a:srgbClr val="93C5FD"/>
                </a:solidFill>
              </a:defRPr>
            </a:lvl8pPr>
            <a:lvl9pPr algn="l">
              <a:defRPr sz="1200" b="0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3C5FD"/>
                </a:solidFill>
              </a:defRPr>
            </a:pPr>
            <a:r>
              <a:rPr sz="1200" b="0">
                <a:solidFill>
                  <a:srgbClr val="93C5FD"/>
                </a:solidFill>
              </a:rPr>
              <a:t>jhan38@hawk.illinoistech.edu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616DB-4E20-4369-B1E4-419882D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14400"/>
            <a:ext cx="238125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082C8-6C7B-4B47-91D8-A8CF874B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430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850" b="1">
                <a:solidFill>
                  <a:srgbClr val="06B6D4"/>
                </a:solidFill>
              </a:defRPr>
            </a:defPPr>
            <a:lvl1pPr algn="ctr">
              <a:defRPr sz="2850" b="1">
                <a:solidFill>
                  <a:srgbClr val="06B6D4"/>
                </a:solidFill>
              </a:defRPr>
            </a:lvl1pPr>
            <a:lvl2pPr algn="ctr">
              <a:defRPr sz="2850" b="1">
                <a:solidFill>
                  <a:srgbClr val="06B6D4"/>
                </a:solidFill>
              </a:defRPr>
            </a:lvl2pPr>
            <a:lvl3pPr algn="ctr">
              <a:defRPr sz="2850" b="1">
                <a:solidFill>
                  <a:srgbClr val="06B6D4"/>
                </a:solidFill>
              </a:defRPr>
            </a:lvl3pPr>
            <a:lvl4pPr algn="ctr">
              <a:defRPr sz="2850" b="1">
                <a:solidFill>
                  <a:srgbClr val="06B6D4"/>
                </a:solidFill>
              </a:defRPr>
            </a:lvl4pPr>
            <a:lvl5pPr algn="ctr">
              <a:defRPr sz="2850" b="1">
                <a:solidFill>
                  <a:srgbClr val="06B6D4"/>
                </a:solidFill>
              </a:defRPr>
            </a:lvl5pPr>
            <a:lvl6pPr algn="ctr">
              <a:defRPr sz="2850" b="1">
                <a:solidFill>
                  <a:srgbClr val="06B6D4"/>
                </a:solidFill>
              </a:defRPr>
            </a:lvl6pPr>
            <a:lvl7pPr algn="ctr">
              <a:defRPr sz="2850" b="1">
                <a:solidFill>
                  <a:srgbClr val="06B6D4"/>
                </a:solidFill>
              </a:defRPr>
            </a:lvl7pPr>
            <a:lvl8pPr algn="ctr">
              <a:defRPr sz="2850" b="1">
                <a:solidFill>
                  <a:srgbClr val="06B6D4"/>
                </a:solidFill>
              </a:defRPr>
            </a:lvl8pPr>
            <a:lvl9pPr algn="ctr">
              <a:defRPr sz="28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6B6D4"/>
                </a:solidFill>
              </a:defRPr>
            </a:pPr>
            <a:r>
              <a:rPr sz="2850" b="1">
                <a:solidFill>
                  <a:srgbClr val="06B6D4"/>
                </a:solidFill>
              </a:rPr>
              <a:t>2 AZs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87FC8-FBE6-449C-8C81-D299E59F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</a:defRPr>
            </a:defPPr>
            <a:lvl1pPr algn="ctr">
              <a:defRPr sz="1350" b="0">
                <a:solidFill>
                  <a:srgbClr val="FFFFFF"/>
                </a:solidFill>
              </a:defRPr>
            </a:lvl1pPr>
            <a:lvl2pPr algn="ctr">
              <a:defRPr sz="1350" b="0">
                <a:solidFill>
                  <a:srgbClr val="FFFFFF"/>
                </a:solidFill>
              </a:defRPr>
            </a:lvl2pPr>
            <a:lvl3pPr algn="ctr">
              <a:defRPr sz="1350" b="0">
                <a:solidFill>
                  <a:srgbClr val="FFFFFF"/>
                </a:solidFill>
              </a:defRPr>
            </a:lvl3pPr>
            <a:lvl4pPr algn="ctr">
              <a:defRPr sz="1350" b="0">
                <a:solidFill>
                  <a:srgbClr val="FFFFFF"/>
                </a:solidFill>
              </a:defRPr>
            </a:lvl4pPr>
            <a:lvl5pPr algn="ctr">
              <a:defRPr sz="1350" b="0">
                <a:solidFill>
                  <a:srgbClr val="FFFFFF"/>
                </a:solidFill>
              </a:defRPr>
            </a:lvl5pPr>
            <a:lvl6pPr algn="ctr">
              <a:defRPr sz="1350" b="0">
                <a:solidFill>
                  <a:srgbClr val="FFFFFF"/>
                </a:solidFill>
              </a:defRPr>
            </a:lvl6pPr>
            <a:lvl7pPr algn="ctr">
              <a:defRPr sz="1350" b="0">
                <a:solidFill>
                  <a:srgbClr val="FFFFFF"/>
                </a:solidFill>
              </a:defRPr>
            </a:lvl7pPr>
            <a:lvl8pPr algn="ctr">
              <a:defRPr sz="1350" b="0">
                <a:solidFill>
                  <a:srgbClr val="FFFFFF"/>
                </a:solidFill>
              </a:defRPr>
            </a:lvl8pPr>
            <a:lvl9pPr algn="ctr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 stable ALB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EB7BE-A497-4352-B80B-B6BF4F3C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65263-6303-4671-90C2-F584A8F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>
                <a:solidFill>
                  <a:srgbClr val="86EFAC"/>
                </a:solidFill>
              </a:defRPr>
            </a:defPPr>
            <a:lvl1pPr algn="ctr">
              <a:defRPr sz="2550" b="1">
                <a:solidFill>
                  <a:srgbClr val="86EFAC"/>
                </a:solidFill>
              </a:defRPr>
            </a:lvl1pPr>
            <a:lvl2pPr algn="ctr">
              <a:defRPr sz="2550" b="1">
                <a:solidFill>
                  <a:srgbClr val="86EFAC"/>
                </a:solidFill>
              </a:defRPr>
            </a:lvl2pPr>
            <a:lvl3pPr algn="ctr">
              <a:defRPr sz="2550" b="1">
                <a:solidFill>
                  <a:srgbClr val="86EFAC"/>
                </a:solidFill>
              </a:defRPr>
            </a:lvl3pPr>
            <a:lvl4pPr algn="ctr">
              <a:defRPr sz="2550" b="1">
                <a:solidFill>
                  <a:srgbClr val="86EFAC"/>
                </a:solidFill>
              </a:defRPr>
            </a:lvl4pPr>
            <a:lvl5pPr algn="ctr">
              <a:defRPr sz="2550" b="1">
                <a:solidFill>
                  <a:srgbClr val="86EFAC"/>
                </a:solidFill>
              </a:defRPr>
            </a:lvl5pPr>
            <a:lvl6pPr algn="ctr">
              <a:defRPr sz="2550" b="1">
                <a:solidFill>
                  <a:srgbClr val="86EFAC"/>
                </a:solidFill>
              </a:defRPr>
            </a:lvl6pPr>
            <a:lvl7pPr algn="ctr">
              <a:defRPr sz="2550" b="1">
                <a:solidFill>
                  <a:srgbClr val="86EFAC"/>
                </a:solidFill>
              </a:defRPr>
            </a:lvl7pPr>
            <a:lvl8pPr algn="ctr">
              <a:defRPr sz="2550" b="1">
                <a:solidFill>
                  <a:srgbClr val="86EFAC"/>
                </a:solidFill>
              </a:defRPr>
            </a:lvl8pPr>
            <a:lvl9pPr algn="ctr">
              <a:defRPr sz="2550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86EFAC"/>
                </a:solidFill>
              </a:defRPr>
            </a:pPr>
            <a:r>
              <a:rPr sz="2550" b="1">
                <a:solidFill>
                  <a:srgbClr val="86EFAC"/>
                </a:solidFill>
              </a:rPr>
              <a:t>77.49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E69D4-9552-470D-B4D5-5E9A1700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CBD5E1"/>
                </a:solidFill>
              </a:defRPr>
            </a:defPPr>
            <a:lvl1pPr algn="ctr">
              <a:defRPr sz="1200" b="0">
                <a:solidFill>
                  <a:srgbClr val="CBD5E1"/>
                </a:solidFill>
              </a:defRPr>
            </a:lvl1pPr>
            <a:lvl2pPr algn="ctr">
              <a:defRPr sz="1200" b="0">
                <a:solidFill>
                  <a:srgbClr val="CBD5E1"/>
                </a:solidFill>
              </a:defRPr>
            </a:lvl2pPr>
            <a:lvl3pPr algn="ctr">
              <a:defRPr sz="1200" b="0">
                <a:solidFill>
                  <a:srgbClr val="CBD5E1"/>
                </a:solidFill>
              </a:defRPr>
            </a:lvl3pPr>
            <a:lvl4pPr algn="ctr">
              <a:defRPr sz="1200" b="0">
                <a:solidFill>
                  <a:srgbClr val="CBD5E1"/>
                </a:solidFill>
              </a:defRPr>
            </a:lvl4pPr>
            <a:lvl5pPr algn="ctr">
              <a:defRPr sz="1200" b="0">
                <a:solidFill>
                  <a:srgbClr val="CBD5E1"/>
                </a:solidFill>
              </a:defRPr>
            </a:lvl5pPr>
            <a:lvl6pPr algn="ctr">
              <a:defRPr sz="1200" b="0">
                <a:solidFill>
                  <a:srgbClr val="CBD5E1"/>
                </a:solidFill>
              </a:defRPr>
            </a:lvl6pPr>
            <a:lvl7pPr algn="ctr">
              <a:defRPr sz="1200" b="0">
                <a:solidFill>
                  <a:srgbClr val="CBD5E1"/>
                </a:solidFill>
              </a:defRPr>
            </a:lvl7pPr>
            <a:lvl8pPr algn="ctr">
              <a:defRPr sz="1200" b="0">
                <a:solidFill>
                  <a:srgbClr val="CBD5E1"/>
                </a:solidFill>
              </a:defRPr>
            </a:lvl8pPr>
            <a:lvl9pPr algn="ctr">
              <a:defRPr sz="120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measured outage</a:t>
            </a:r>
          </a:p>
        </p:txBody>
      </p:sp>
    </p:spTree>
    <p:extLst>
      <p:ext uri="{BB962C8B-B14F-4D97-AF65-F5344CB8AC3E}">
        <p14:creationId xmlns:p14="http://schemas.microsoft.com/office/powerpoint/2010/main" val="752385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303F40-0655-4452-A71E-D0E2FF2F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C5384-9B76-480A-A9A1-E6EF9DBC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Multi-AZ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169F6-8719-4C97-A904-B49C3BB5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08B16-E7E8-4293-B000-F3D3B33B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64748B"/>
                </a:solidFill>
              </a:defRPr>
            </a:defPPr>
            <a:lvl1pPr algn="ctr">
              <a:defRPr sz="1425" b="1">
                <a:solidFill>
                  <a:srgbClr val="64748B"/>
                </a:solidFill>
              </a:defRPr>
            </a:lvl1pPr>
            <a:lvl2pPr algn="ctr">
              <a:defRPr sz="1425" b="1">
                <a:solidFill>
                  <a:srgbClr val="64748B"/>
                </a:solidFill>
              </a:defRPr>
            </a:lvl2pPr>
            <a:lvl3pPr algn="ctr">
              <a:defRPr sz="1425" b="1">
                <a:solidFill>
                  <a:srgbClr val="64748B"/>
                </a:solidFill>
              </a:defRPr>
            </a:lvl3pPr>
            <a:lvl4pPr algn="ctr">
              <a:defRPr sz="1425" b="1">
                <a:solidFill>
                  <a:srgbClr val="64748B"/>
                </a:solidFill>
              </a:defRPr>
            </a:lvl4pPr>
            <a:lvl5pPr algn="ctr">
              <a:defRPr sz="1425" b="1">
                <a:solidFill>
                  <a:srgbClr val="64748B"/>
                </a:solidFill>
              </a:defRPr>
            </a:lvl5pPr>
            <a:lvl6pPr algn="ctr">
              <a:defRPr sz="1425" b="1">
                <a:solidFill>
                  <a:srgbClr val="64748B"/>
                </a:solidFill>
              </a:defRPr>
            </a:lvl6pPr>
            <a:lvl7pPr algn="ctr">
              <a:defRPr sz="1425" b="1">
                <a:solidFill>
                  <a:srgbClr val="64748B"/>
                </a:solidFill>
              </a:defRPr>
            </a:lvl7pPr>
            <a:lvl8pPr algn="ctr">
              <a:defRPr sz="1425" b="1">
                <a:solidFill>
                  <a:srgbClr val="64748B"/>
                </a:solidFill>
              </a:defRPr>
            </a:lvl8pPr>
            <a:lvl9pPr algn="ctr">
              <a:defRPr sz="14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4748B"/>
                </a:solidFill>
              </a:defRPr>
            </a:pPr>
            <a:r>
              <a:rPr sz="1425" b="1">
                <a:solidFill>
                  <a:srgbClr val="64748B"/>
                </a:solidFill>
              </a:rPr>
              <a:t>Internet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EAEA6-C7E5-4B00-A7D2-5FC84724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88007-B773-400D-9F7E-2296CBDC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04336-790B-491A-BA1C-D0054401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HTTP 8080 / 8081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DC32D-8B06-4242-9572-9B7114B3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A74C2-FE09-43C6-8EE3-0913F51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D4ED8"/>
                </a:solidFill>
              </a:defRPr>
            </a:defPPr>
            <a:lvl1pPr algn="ctr">
              <a:defRPr sz="1500" b="1">
                <a:solidFill>
                  <a:srgbClr val="1D4ED8"/>
                </a:solidFill>
              </a:defRPr>
            </a:lvl1pPr>
            <a:lvl2pPr algn="ctr">
              <a:defRPr sz="1500" b="1">
                <a:solidFill>
                  <a:srgbClr val="1D4ED8"/>
                </a:solidFill>
              </a:defRPr>
            </a:lvl2pPr>
            <a:lvl3pPr algn="ctr">
              <a:defRPr sz="1500" b="1">
                <a:solidFill>
                  <a:srgbClr val="1D4ED8"/>
                </a:solidFill>
              </a:defRPr>
            </a:lvl3pPr>
            <a:lvl4pPr algn="ctr">
              <a:defRPr sz="1500" b="1">
                <a:solidFill>
                  <a:srgbClr val="1D4ED8"/>
                </a:solidFill>
              </a:defRPr>
            </a:lvl4pPr>
            <a:lvl5pPr algn="ctr">
              <a:defRPr sz="1500" b="1">
                <a:solidFill>
                  <a:srgbClr val="1D4ED8"/>
                </a:solidFill>
              </a:defRPr>
            </a:lvl5pPr>
            <a:lvl6pPr algn="ctr">
              <a:defRPr sz="1500" b="1">
                <a:solidFill>
                  <a:srgbClr val="1D4ED8"/>
                </a:solidFill>
              </a:defRPr>
            </a:lvl6pPr>
            <a:lvl7pPr algn="ctr">
              <a:defRPr sz="1500" b="1">
                <a:solidFill>
                  <a:srgbClr val="1D4ED8"/>
                </a:solidFill>
              </a:defRPr>
            </a:lvl7pPr>
            <a:lvl8pPr algn="ctr">
              <a:defRPr sz="1500" b="1">
                <a:solidFill>
                  <a:srgbClr val="1D4ED8"/>
                </a:solidFill>
              </a:defRPr>
            </a:lvl8pPr>
            <a:lvl9pPr algn="ctr">
              <a:defRPr sz="15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Application Load</a:t>
            </a:r>
          </a:p>
          <a:p xmlns:a="http://schemas.openxmlformats.org/drawingml/2006/main">
            <a:pPr algn="ctr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Balancer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714E1-5DE9-425F-A74E-0E4712D3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64748B"/>
                </a:solidFill>
              </a:defRPr>
            </a:defPPr>
            <a:lvl1pPr algn="ctr">
              <a:defRPr sz="975" b="0">
                <a:solidFill>
                  <a:srgbClr val="64748B"/>
                </a:solidFill>
              </a:defRPr>
            </a:lvl1pPr>
            <a:lvl2pPr algn="ctr">
              <a:defRPr sz="975" b="0">
                <a:solidFill>
                  <a:srgbClr val="64748B"/>
                </a:solidFill>
              </a:defRPr>
            </a:lvl2pPr>
            <a:lvl3pPr algn="ctr">
              <a:defRPr sz="975" b="0">
                <a:solidFill>
                  <a:srgbClr val="64748B"/>
                </a:solidFill>
              </a:defRPr>
            </a:lvl3pPr>
            <a:lvl4pPr algn="ctr">
              <a:defRPr sz="975" b="0">
                <a:solidFill>
                  <a:srgbClr val="64748B"/>
                </a:solidFill>
              </a:defRPr>
            </a:lvl4pPr>
            <a:lvl5pPr algn="ctr">
              <a:defRPr sz="975" b="0">
                <a:solidFill>
                  <a:srgbClr val="64748B"/>
                </a:solidFill>
              </a:defRPr>
            </a:lvl5pPr>
            <a:lvl6pPr algn="ctr">
              <a:defRPr sz="975" b="0">
                <a:solidFill>
                  <a:srgbClr val="64748B"/>
                </a:solidFill>
              </a:defRPr>
            </a:lvl6pPr>
            <a:lvl7pPr algn="ctr">
              <a:defRPr sz="975" b="0">
                <a:solidFill>
                  <a:srgbClr val="64748B"/>
                </a:solidFill>
              </a:defRPr>
            </a:lvl7pPr>
            <a:lvl8pPr algn="ctr">
              <a:defRPr sz="975" b="0">
                <a:solidFill>
                  <a:srgbClr val="64748B"/>
                </a:solidFill>
              </a:defRPr>
            </a:lvl8pPr>
            <a:lvl9pPr algn="ctr">
              <a:defRPr sz="9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Stable DNS across two subnets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3AEFD-D83A-493B-86E8-E6019675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forwards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5EA93-152C-4F3D-84EE-2457E858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42F03-56BC-4947-8EEE-5C327776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563EB"/>
                </a:solidFill>
              </a:defRPr>
            </a:defPPr>
            <a:lvl1pPr algn="ctr">
              <a:defRPr sz="1500" b="1">
                <a:solidFill>
                  <a:srgbClr val="2563EB"/>
                </a:solidFill>
              </a:defRPr>
            </a:lvl1pPr>
            <a:lvl2pPr algn="ctr">
              <a:defRPr sz="1500" b="1">
                <a:solidFill>
                  <a:srgbClr val="2563EB"/>
                </a:solidFill>
              </a:defRPr>
            </a:lvl2pPr>
            <a:lvl3pPr algn="ctr">
              <a:defRPr sz="1500" b="1">
                <a:solidFill>
                  <a:srgbClr val="2563EB"/>
                </a:solidFill>
              </a:defRPr>
            </a:lvl3pPr>
            <a:lvl4pPr algn="ctr">
              <a:defRPr sz="1500" b="1">
                <a:solidFill>
                  <a:srgbClr val="2563EB"/>
                </a:solidFill>
              </a:defRPr>
            </a:lvl4pPr>
            <a:lvl5pPr algn="ctr">
              <a:defRPr sz="1500" b="1">
                <a:solidFill>
                  <a:srgbClr val="2563EB"/>
                </a:solidFill>
              </a:defRPr>
            </a:lvl5pPr>
            <a:lvl6pPr algn="ctr">
              <a:defRPr sz="1500" b="1">
                <a:solidFill>
                  <a:srgbClr val="2563EB"/>
                </a:solidFill>
              </a:defRPr>
            </a:lvl6pPr>
            <a:lvl7pPr algn="ctr">
              <a:defRPr sz="1500" b="1">
                <a:solidFill>
                  <a:srgbClr val="2563EB"/>
                </a:solidFill>
              </a:defRPr>
            </a:lvl7pPr>
            <a:lvl8pPr algn="ctr">
              <a:defRPr sz="1500" b="1">
                <a:solidFill>
                  <a:srgbClr val="2563EB"/>
                </a:solidFill>
              </a:defRPr>
            </a:lvl8pPr>
            <a:lvl9pPr algn="ctr">
              <a:defRPr sz="15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Uploader target 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7DD69-70F1-4C66-9F21-0FE7DFDF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FDBC2-AC3B-4808-9435-F88FB6E7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08F87-763F-4D83-A112-6D868D5D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06B6D4"/>
                </a:solidFill>
              </a:defRPr>
            </a:defPPr>
            <a:lvl1pPr algn="ctr">
              <a:defRPr sz="1500" b="1">
                <a:solidFill>
                  <a:srgbClr val="06B6D4"/>
                </a:solidFill>
              </a:defRPr>
            </a:lvl1pPr>
            <a:lvl2pPr algn="ctr">
              <a:defRPr sz="1500" b="1">
                <a:solidFill>
                  <a:srgbClr val="06B6D4"/>
                </a:solidFill>
              </a:defRPr>
            </a:lvl2pPr>
            <a:lvl3pPr algn="ctr">
              <a:defRPr sz="1500" b="1">
                <a:solidFill>
                  <a:srgbClr val="06B6D4"/>
                </a:solidFill>
              </a:defRPr>
            </a:lvl3pPr>
            <a:lvl4pPr algn="ctr">
              <a:defRPr sz="1500" b="1">
                <a:solidFill>
                  <a:srgbClr val="06B6D4"/>
                </a:solidFill>
              </a:defRPr>
            </a:lvl4pPr>
            <a:lvl5pPr algn="ctr">
              <a:defRPr sz="1500" b="1">
                <a:solidFill>
                  <a:srgbClr val="06B6D4"/>
                </a:solidFill>
              </a:defRPr>
            </a:lvl5pPr>
            <a:lvl6pPr algn="ctr">
              <a:defRPr sz="1500" b="1">
                <a:solidFill>
                  <a:srgbClr val="06B6D4"/>
                </a:solidFill>
              </a:defRPr>
            </a:lvl6pPr>
            <a:lvl7pPr algn="ctr">
              <a:defRPr sz="1500" b="1">
                <a:solidFill>
                  <a:srgbClr val="06B6D4"/>
                </a:solidFill>
              </a:defRPr>
            </a:lvl7pPr>
            <a:lvl8pPr algn="ctr">
              <a:defRPr sz="1500" b="1">
                <a:solidFill>
                  <a:srgbClr val="06B6D4"/>
                </a:solidFill>
              </a:defRPr>
            </a:lvl8pPr>
            <a:lvl9pPr algn="ctr">
              <a:defRPr sz="150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6B6D4"/>
                </a:solidFill>
              </a:defRPr>
            </a:pPr>
            <a:r>
              <a:rPr sz="1500" b="1">
                <a:solidFill>
                  <a:srgbClr val="06B6D4"/>
                </a:solidFill>
              </a:rPr>
              <a:t>Viewer target 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92BA5-4364-40A6-BA8A-3421184E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7BF5C-1550-4F84-8C73-87359485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A2EFB-DCAF-47C1-8014-960D4161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15803D"/>
                </a:solidFill>
              </a:defRPr>
            </a:defPPr>
            <a:lvl1pPr algn="ctr">
              <a:defRPr sz="1725" b="1">
                <a:solidFill>
                  <a:srgbClr val="15803D"/>
                </a:solidFill>
              </a:defRPr>
            </a:lvl1pPr>
            <a:lvl2pPr algn="ctr">
              <a:defRPr sz="1725" b="1">
                <a:solidFill>
                  <a:srgbClr val="15803D"/>
                </a:solidFill>
              </a:defRPr>
            </a:lvl2pPr>
            <a:lvl3pPr algn="ctr">
              <a:defRPr sz="1725" b="1">
                <a:solidFill>
                  <a:srgbClr val="15803D"/>
                </a:solidFill>
              </a:defRPr>
            </a:lvl3pPr>
            <a:lvl4pPr algn="ctr">
              <a:defRPr sz="1725" b="1">
                <a:solidFill>
                  <a:srgbClr val="15803D"/>
                </a:solidFill>
              </a:defRPr>
            </a:lvl4pPr>
            <a:lvl5pPr algn="ctr">
              <a:defRPr sz="1725" b="1">
                <a:solidFill>
                  <a:srgbClr val="15803D"/>
                </a:solidFill>
              </a:defRPr>
            </a:lvl5pPr>
            <a:lvl6pPr algn="ctr">
              <a:defRPr sz="1725" b="1">
                <a:solidFill>
                  <a:srgbClr val="15803D"/>
                </a:solidFill>
              </a:defRPr>
            </a:lvl6pPr>
            <a:lvl7pPr algn="ctr">
              <a:defRPr sz="1725" b="1">
                <a:solidFill>
                  <a:srgbClr val="15803D"/>
                </a:solidFill>
              </a:defRPr>
            </a:lvl7pPr>
            <a:lvl8pPr algn="ctr">
              <a:defRPr sz="1725" b="1">
                <a:solidFill>
                  <a:srgbClr val="15803D"/>
                </a:solidFill>
              </a:defRPr>
            </a:lvl8pPr>
            <a:lvl9pPr algn="ctr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Amazon S3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AD478-A42D-4341-A8F3-32C2BB38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Shared upload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01B1E-5F40-49EA-860A-46D5EE6D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479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47CEF-5105-40D5-9AAA-0C6AD1DE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DF03A-FE53-4058-B0B8-E58F13EC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85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C1596-9F80-4CA2-BFAD-C3E971A6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802DF-08FF-4853-B26E-D4C92177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1672D-6D2E-43AF-AE98-42AAF29A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D32F4-8FB8-426B-A3FF-B9F0EF1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11827"/>
                </a:solidFill>
              </a:defRPr>
            </a:defPPr>
            <a:lvl1pPr algn="ctr">
              <a:defRPr sz="1500" b="1">
                <a:solidFill>
                  <a:srgbClr val="111827"/>
                </a:solidFill>
              </a:defRPr>
            </a:lvl1pPr>
            <a:lvl2pPr algn="ctr">
              <a:defRPr sz="1500" b="1">
                <a:solidFill>
                  <a:srgbClr val="111827"/>
                </a:solidFill>
              </a:defRPr>
            </a:lvl2pPr>
            <a:lvl3pPr algn="ctr">
              <a:defRPr sz="1500" b="1">
                <a:solidFill>
                  <a:srgbClr val="111827"/>
                </a:solidFill>
              </a:defRPr>
            </a:lvl3pPr>
            <a:lvl4pPr algn="ctr">
              <a:defRPr sz="1500" b="1">
                <a:solidFill>
                  <a:srgbClr val="111827"/>
                </a:solidFill>
              </a:defRPr>
            </a:lvl4pPr>
            <a:lvl5pPr algn="ctr">
              <a:defRPr sz="1500" b="1">
                <a:solidFill>
                  <a:srgbClr val="111827"/>
                </a:solidFill>
              </a:defRPr>
            </a:lvl5pPr>
            <a:lvl6pPr algn="ctr">
              <a:defRPr sz="1500" b="1">
                <a:solidFill>
                  <a:srgbClr val="111827"/>
                </a:solidFill>
              </a:defRPr>
            </a:lvl6pPr>
            <a:lvl7pPr algn="ctr">
              <a:defRPr sz="1500" b="1">
                <a:solidFill>
                  <a:srgbClr val="111827"/>
                </a:solidFill>
              </a:defRPr>
            </a:lvl7pPr>
            <a:lvl8pPr algn="ctr">
              <a:defRPr sz="1500" b="1">
                <a:solidFill>
                  <a:srgbClr val="111827"/>
                </a:solidFill>
              </a:defRPr>
            </a:lvl8pPr>
            <a:lvl9pPr algn="ctr">
              <a:defRPr sz="15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The ALB owns the public entry point. Each ASG replaces a failed instance from the latest launch template.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228C0-DF68-433C-A3DE-25EC7492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0EFFE-81B4-4C86-BD9A-CC99D119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2651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0EFDB-5EBE-481C-8EAD-47BDCCDB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PROVISIONING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7023C-27FD-4994-A367-9BC26428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Stack creation produced both ALB endpoints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46BD2-3753-4CD4-9175-DD38512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5E58E-591C-41A1-A881-558DC76B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14350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8CD48-C0B9-49C5-82F9-0E5060DA82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4b183177541b5"/>
          <a:stretch xmlns:a="http://schemas.openxmlformats.org/drawingml/2006/main"/>
        </p:blipFill>
        <p:spPr>
          <a:xfrm xmlns:a="http://schemas.openxmlformats.org/drawingml/2006/main">
            <a:off x="1867979" y="1733550"/>
            <a:ext cx="2741042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5E0CD-E6EB-49A7-A113-D5F2E4E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</a:defRPr>
            </a:defPPr>
            <a:lvl1pPr algn="l">
              <a:defRPr sz="1875" b="1">
                <a:solidFill>
                  <a:srgbClr val="111827"/>
                </a:solidFill>
              </a:defRPr>
            </a:lvl1pPr>
            <a:lvl2pPr algn="l">
              <a:defRPr sz="1875" b="1">
                <a:solidFill>
                  <a:srgbClr val="111827"/>
                </a:solidFill>
              </a:defRPr>
            </a:lvl2pPr>
            <a:lvl3pPr algn="l">
              <a:defRPr sz="1875" b="1">
                <a:solidFill>
                  <a:srgbClr val="111827"/>
                </a:solidFill>
              </a:defRPr>
            </a:lvl3pPr>
            <a:lvl4pPr algn="l">
              <a:defRPr sz="1875" b="1">
                <a:solidFill>
                  <a:srgbClr val="111827"/>
                </a:solidFill>
              </a:defRPr>
            </a:lvl4pPr>
            <a:lvl5pPr algn="l">
              <a:defRPr sz="1875" b="1">
                <a:solidFill>
                  <a:srgbClr val="111827"/>
                </a:solidFill>
              </a:defRPr>
            </a:lvl5pPr>
            <a:lvl6pPr algn="l">
              <a:defRPr sz="1875" b="1">
                <a:solidFill>
                  <a:srgbClr val="111827"/>
                </a:solidFill>
              </a:defRPr>
            </a:lvl6pPr>
            <a:lvl7pPr algn="l">
              <a:defRPr sz="1875" b="1">
                <a:solidFill>
                  <a:srgbClr val="111827"/>
                </a:solidFill>
              </a:defRPr>
            </a:lvl7pPr>
            <a:lvl8pPr algn="l">
              <a:defRPr sz="1875" b="1">
                <a:solidFill>
                  <a:srgbClr val="111827"/>
                </a:solidFill>
              </a:defRPr>
            </a:lvl8pPr>
            <a:lvl9pPr algn="l">
              <a:defRPr sz="187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What the script 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5B8D4-B573-4BDC-BCB1-7E0CAC7F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A92F0-EE3D-4233-B946-69B41556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955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Default VPC and subnets in us-east-2a / 2b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7F0D8-C6D2-4F24-88AF-01C355D8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B03FB-9D30-4854-87F9-BDF5F20E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432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ALB security group and restricted app ingress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294C0-EB6B-462C-BEBA-C2D79D82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0F160-A8A0-4001-B6BE-71BF734E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Two target groups with 10-second health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571D5-6DB6-42C6-A515-6EB43767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489B-F6FF-46A2-9607-669AD9F1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Listeners on ports 8080 and 8081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44FD0-A803-45AE-8365-AEF11759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6DDE4-A4F5-4C94-BEC9-E7986ADF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863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Uploader and viewer ASGs using $Latest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88370-9D02-47D6-9322-F5F4981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68B87-2D9B-4FD9-AE07-ECFDFA78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6067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74A09-4094-46F9-B2C8-1AB55257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CFDE2-07D1-499A-BF7E-FCD0EBE2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Both application endpoints were reachable through the ALB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C6CF4-5EFE-40F9-ADC0-930CA137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99A49-388B-4270-BDAC-5AE9A005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95E37-20E8-4DF6-B94D-F2E5B858FD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0d70e771847cf"/>
          <a:stretch xmlns:a="http://schemas.openxmlformats.org/drawingml/2006/main"/>
        </p:blipFill>
        <p:spPr>
          <a:xfrm xmlns:a="http://schemas.openxmlformats.org/drawingml/2006/main">
            <a:off x="1107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E1F02-D242-4D62-AF41-2327532E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C591B-9314-4725-B8DF-5D090159D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2e1599f8a47e2"/>
          <a:stretch xmlns:a="http://schemas.openxmlformats.org/drawingml/2006/main"/>
        </p:blipFill>
        <p:spPr>
          <a:xfrm xmlns:a="http://schemas.openxmlformats.org/drawingml/2006/main">
            <a:off x="6822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E2519-660E-405B-8AB7-CAE0841B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2563EB"/>
                </a:solidFill>
              </a:defRPr>
            </a:defPPr>
            <a:lvl1pPr algn="ctr">
              <a:defRPr sz="1425" b="1">
                <a:solidFill>
                  <a:srgbClr val="2563EB"/>
                </a:solidFill>
              </a:defRPr>
            </a:lvl1pPr>
            <a:lvl2pPr algn="ctr">
              <a:defRPr sz="1425" b="1">
                <a:solidFill>
                  <a:srgbClr val="2563EB"/>
                </a:solidFill>
              </a:defRPr>
            </a:lvl2pPr>
            <a:lvl3pPr algn="ctr">
              <a:defRPr sz="1425" b="1">
                <a:solidFill>
                  <a:srgbClr val="2563EB"/>
                </a:solidFill>
              </a:defRPr>
            </a:lvl3pPr>
            <a:lvl4pPr algn="ctr">
              <a:defRPr sz="1425" b="1">
                <a:solidFill>
                  <a:srgbClr val="2563EB"/>
                </a:solidFill>
              </a:defRPr>
            </a:lvl4pPr>
            <a:lvl5pPr algn="ctr">
              <a:defRPr sz="1425" b="1">
                <a:solidFill>
                  <a:srgbClr val="2563EB"/>
                </a:solidFill>
              </a:defRPr>
            </a:lvl5pPr>
            <a:lvl6pPr algn="ctr">
              <a:defRPr sz="1425" b="1">
                <a:solidFill>
                  <a:srgbClr val="2563EB"/>
                </a:solidFill>
              </a:defRPr>
            </a:lvl6pPr>
            <a:lvl7pPr algn="ctr">
              <a:defRPr sz="1425" b="1">
                <a:solidFill>
                  <a:srgbClr val="2563EB"/>
                </a:solidFill>
              </a:defRPr>
            </a:lvl7pPr>
            <a:lvl8pPr algn="ctr">
              <a:defRPr sz="1425" b="1">
                <a:solidFill>
                  <a:srgbClr val="2563EB"/>
                </a:solidFill>
              </a:defRPr>
            </a:lvl8pPr>
            <a:lvl9pPr algn="ctr">
              <a:defRPr sz="14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Uploader · :8080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7EF82-33A7-4810-932C-E2A46C8D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06B6D4"/>
                </a:solidFill>
              </a:defRPr>
            </a:defPPr>
            <a:lvl1pPr algn="ctr">
              <a:defRPr sz="1425" b="1">
                <a:solidFill>
                  <a:srgbClr val="06B6D4"/>
                </a:solidFill>
              </a:defRPr>
            </a:lvl1pPr>
            <a:lvl2pPr algn="ctr">
              <a:defRPr sz="1425" b="1">
                <a:solidFill>
                  <a:srgbClr val="06B6D4"/>
                </a:solidFill>
              </a:defRPr>
            </a:lvl2pPr>
            <a:lvl3pPr algn="ctr">
              <a:defRPr sz="1425" b="1">
                <a:solidFill>
                  <a:srgbClr val="06B6D4"/>
                </a:solidFill>
              </a:defRPr>
            </a:lvl3pPr>
            <a:lvl4pPr algn="ctr">
              <a:defRPr sz="1425" b="1">
                <a:solidFill>
                  <a:srgbClr val="06B6D4"/>
                </a:solidFill>
              </a:defRPr>
            </a:lvl4pPr>
            <a:lvl5pPr algn="ctr">
              <a:defRPr sz="1425" b="1">
                <a:solidFill>
                  <a:srgbClr val="06B6D4"/>
                </a:solidFill>
              </a:defRPr>
            </a:lvl5pPr>
            <a:lvl6pPr algn="ctr">
              <a:defRPr sz="1425" b="1">
                <a:solidFill>
                  <a:srgbClr val="06B6D4"/>
                </a:solidFill>
              </a:defRPr>
            </a:lvl6pPr>
            <a:lvl7pPr algn="ctr">
              <a:defRPr sz="1425" b="1">
                <a:solidFill>
                  <a:srgbClr val="06B6D4"/>
                </a:solidFill>
              </a:defRPr>
            </a:lvl7pPr>
            <a:lvl8pPr algn="ctr">
              <a:defRPr sz="1425" b="1">
                <a:solidFill>
                  <a:srgbClr val="06B6D4"/>
                </a:solidFill>
              </a:defRPr>
            </a:lvl8pPr>
            <a:lvl9pPr algn="ctr">
              <a:defRPr sz="1425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6B6D4"/>
                </a:solidFill>
              </a:defRPr>
            </a:pPr>
            <a:r>
              <a:rPr sz="1425" b="1">
                <a:solidFill>
                  <a:srgbClr val="06B6D4"/>
                </a:solidFill>
              </a:rPr>
              <a:t>Viewer · :8081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8E6BE-B695-413B-AC16-4ACA2D34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111827"/>
                </a:solidFill>
              </a:defRPr>
            </a:defPPr>
            <a:lvl1pPr algn="ctr">
              <a:defRPr sz="1350" b="0">
                <a:solidFill>
                  <a:srgbClr val="111827"/>
                </a:solidFill>
              </a:defRPr>
            </a:lvl1pPr>
            <a:lvl2pPr algn="ctr">
              <a:defRPr sz="1350" b="0">
                <a:solidFill>
                  <a:srgbClr val="111827"/>
                </a:solidFill>
              </a:defRPr>
            </a:lvl2pPr>
            <a:lvl3pPr algn="ctr">
              <a:defRPr sz="1350" b="0">
                <a:solidFill>
                  <a:srgbClr val="111827"/>
                </a:solidFill>
              </a:defRPr>
            </a:lvl3pPr>
            <a:lvl4pPr algn="ctr">
              <a:defRPr sz="1350" b="0">
                <a:solidFill>
                  <a:srgbClr val="111827"/>
                </a:solidFill>
              </a:defRPr>
            </a:lvl4pPr>
            <a:lvl5pPr algn="ctr">
              <a:defRPr sz="1350" b="0">
                <a:solidFill>
                  <a:srgbClr val="111827"/>
                </a:solidFill>
              </a:defRPr>
            </a:lvl5pPr>
            <a:lvl6pPr algn="ctr">
              <a:defRPr sz="1350" b="0">
                <a:solidFill>
                  <a:srgbClr val="111827"/>
                </a:solidFill>
              </a:defRPr>
            </a:lvl6pPr>
            <a:lvl7pPr algn="ctr">
              <a:defRPr sz="1350" b="0">
                <a:solidFill>
                  <a:srgbClr val="111827"/>
                </a:solidFill>
              </a:defRPr>
            </a:lvl7pPr>
            <a:lvl8pPr algn="ctr">
              <a:defRPr sz="1350" b="0">
                <a:solidFill>
                  <a:srgbClr val="111827"/>
                </a:solidFill>
              </a:defRPr>
            </a:lvl8pPr>
            <a:lvl9pPr algn="ctr">
              <a:defRPr sz="1350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The screenshots confirm that both listener ports returned their application pages through the same ALB DNS name.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E40E3-527F-470B-8002-FF4963F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09C34-B19A-499C-8B46-67885E12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381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21C4F-594E-446D-859A-EAD372A9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HEALTH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25C8F-1F95-472D-B00B-AFA5138E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Target health confirms the routing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CC9A0-F8DD-43F8-B37E-7FA38C13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13310-920E-40D3-9F69-7A97F3F6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858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28CB9-3439-479A-BE4D-487B0E912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dc08b6c5c453f"/>
          <a:stretch xmlns:a="http://schemas.openxmlformats.org/drawingml/2006/main"/>
        </p:blipFill>
        <p:spPr>
          <a:xfrm xmlns:a="http://schemas.openxmlformats.org/drawingml/2006/main">
            <a:off x="915276" y="1790700"/>
            <a:ext cx="6360947" cy="3886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0F77C-D06F-4E70-B572-A43C1C24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Health-check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CBF15-37B4-4A1B-B8B0-100B8EDB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563EB"/>
                </a:solidFill>
              </a:defRPr>
            </a:defPPr>
            <a:lvl1pPr algn="l">
              <a:defRPr sz="2550" b="1">
                <a:solidFill>
                  <a:srgbClr val="2563EB"/>
                </a:solidFill>
              </a:defRPr>
            </a:lvl1pPr>
            <a:lvl2pPr algn="l">
              <a:defRPr sz="2550" b="1">
                <a:solidFill>
                  <a:srgbClr val="2563EB"/>
                </a:solidFill>
              </a:defRPr>
            </a:lvl2pPr>
            <a:lvl3pPr algn="l">
              <a:defRPr sz="2550" b="1">
                <a:solidFill>
                  <a:srgbClr val="2563EB"/>
                </a:solidFill>
              </a:defRPr>
            </a:lvl3pPr>
            <a:lvl4pPr algn="l">
              <a:defRPr sz="2550" b="1">
                <a:solidFill>
                  <a:srgbClr val="2563EB"/>
                </a:solidFill>
              </a:defRPr>
            </a:lvl4pPr>
            <a:lvl5pPr algn="l">
              <a:defRPr sz="2550" b="1">
                <a:solidFill>
                  <a:srgbClr val="2563EB"/>
                </a:solidFill>
              </a:defRPr>
            </a:lvl5pPr>
            <a:lvl6pPr algn="l">
              <a:defRPr sz="2550" b="1">
                <a:solidFill>
                  <a:srgbClr val="2563EB"/>
                </a:solidFill>
              </a:defRPr>
            </a:lvl6pPr>
            <a:lvl7pPr algn="l">
              <a:defRPr sz="2550" b="1">
                <a:solidFill>
                  <a:srgbClr val="2563EB"/>
                </a:solidFill>
              </a:defRPr>
            </a:lvl7pPr>
            <a:lvl8pPr algn="l">
              <a:defRPr sz="2550" b="1">
                <a:solidFill>
                  <a:srgbClr val="2563EB"/>
                </a:solidFill>
              </a:defRPr>
            </a:lvl8pPr>
            <a:lvl9pPr algn="l">
              <a:defRPr sz="25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95F8A-82B2-4550-9646-06D818B9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66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probe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172FA-F51D-4FA3-838C-C3F9949C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06B6D4"/>
                </a:solidFill>
              </a:defRPr>
            </a:defPPr>
            <a:lvl1pPr algn="l">
              <a:defRPr sz="2550" b="1">
                <a:solidFill>
                  <a:srgbClr val="06B6D4"/>
                </a:solidFill>
              </a:defRPr>
            </a:lvl1pPr>
            <a:lvl2pPr algn="l">
              <a:defRPr sz="2550" b="1">
                <a:solidFill>
                  <a:srgbClr val="06B6D4"/>
                </a:solidFill>
              </a:defRPr>
            </a:lvl2pPr>
            <a:lvl3pPr algn="l">
              <a:defRPr sz="2550" b="1">
                <a:solidFill>
                  <a:srgbClr val="06B6D4"/>
                </a:solidFill>
              </a:defRPr>
            </a:lvl3pPr>
            <a:lvl4pPr algn="l">
              <a:defRPr sz="2550" b="1">
                <a:solidFill>
                  <a:srgbClr val="06B6D4"/>
                </a:solidFill>
              </a:defRPr>
            </a:lvl4pPr>
            <a:lvl5pPr algn="l">
              <a:defRPr sz="2550" b="1">
                <a:solidFill>
                  <a:srgbClr val="06B6D4"/>
                </a:solidFill>
              </a:defRPr>
            </a:lvl5pPr>
            <a:lvl6pPr algn="l">
              <a:defRPr sz="2550" b="1">
                <a:solidFill>
                  <a:srgbClr val="06B6D4"/>
                </a:solidFill>
              </a:defRPr>
            </a:lvl6pPr>
            <a:lvl7pPr algn="l">
              <a:defRPr sz="2550" b="1">
                <a:solidFill>
                  <a:srgbClr val="06B6D4"/>
                </a:solidFill>
              </a:defRPr>
            </a:lvl7pPr>
            <a:lvl8pPr algn="l">
              <a:defRPr sz="2550" b="1">
                <a:solidFill>
                  <a:srgbClr val="06B6D4"/>
                </a:solidFill>
              </a:defRPr>
            </a:lvl8pPr>
            <a:lvl9pPr algn="l">
              <a:defRPr sz="25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6B6D4"/>
                </a:solidFill>
              </a:defRPr>
            </a:pPr>
            <a:r>
              <a:rPr sz="2550" b="1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9D4FD-9B97-49CF-A239-85315693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9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healthy checks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8FBFC-E714-4569-835F-59EF7AD6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6A34A"/>
                </a:solidFill>
              </a:defRPr>
            </a:defPPr>
            <a:lvl1pPr algn="l">
              <a:defRPr sz="2550" b="1">
                <a:solidFill>
                  <a:srgbClr val="16A34A"/>
                </a:solidFill>
              </a:defRPr>
            </a:lvl1pPr>
            <a:lvl2pPr algn="l">
              <a:defRPr sz="2550" b="1">
                <a:solidFill>
                  <a:srgbClr val="16A34A"/>
                </a:solidFill>
              </a:defRPr>
            </a:lvl2pPr>
            <a:lvl3pPr algn="l">
              <a:defRPr sz="2550" b="1">
                <a:solidFill>
                  <a:srgbClr val="16A34A"/>
                </a:solidFill>
              </a:defRPr>
            </a:lvl3pPr>
            <a:lvl4pPr algn="l">
              <a:defRPr sz="2550" b="1">
                <a:solidFill>
                  <a:srgbClr val="16A34A"/>
                </a:solidFill>
              </a:defRPr>
            </a:lvl4pPr>
            <a:lvl5pPr algn="l">
              <a:defRPr sz="2550" b="1">
                <a:solidFill>
                  <a:srgbClr val="16A34A"/>
                </a:solidFill>
              </a:defRPr>
            </a:lvl5pPr>
            <a:lvl6pPr algn="l">
              <a:defRPr sz="2550" b="1">
                <a:solidFill>
                  <a:srgbClr val="16A34A"/>
                </a:solidFill>
              </a:defRPr>
            </a:lvl6pPr>
            <a:lvl7pPr algn="l">
              <a:defRPr sz="2550" b="1">
                <a:solidFill>
                  <a:srgbClr val="16A34A"/>
                </a:solidFill>
              </a:defRPr>
            </a:lvl7pPr>
            <a:lvl8pPr algn="l">
              <a:defRPr sz="2550" b="1">
                <a:solidFill>
                  <a:srgbClr val="16A34A"/>
                </a:solidFill>
              </a:defRPr>
            </a:lvl8pPr>
            <a:lvl9pPr algn="l">
              <a:defRPr sz="2550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ELB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2D27A-DA9B-4ACF-BC39-70862D16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ASG health-check 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A44C8-A34C-403F-A363-6C048031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D0477-57D6-4621-A8D3-7256D02B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</a:defRPr>
            </a:defPPr>
            <a:lvl1pPr algn="l">
              <a:defRPr sz="1350" b="1">
                <a:solidFill>
                  <a:srgbClr val="111827"/>
                </a:solidFill>
              </a:defRPr>
            </a:lvl1pPr>
            <a:lvl2pPr algn="l">
              <a:defRPr sz="1350" b="1">
                <a:solidFill>
                  <a:srgbClr val="111827"/>
                </a:solidFill>
              </a:defRPr>
            </a:lvl2pPr>
            <a:lvl3pPr algn="l">
              <a:defRPr sz="1350" b="1">
                <a:solidFill>
                  <a:srgbClr val="111827"/>
                </a:solidFill>
              </a:defRPr>
            </a:lvl3pPr>
            <a:lvl4pPr algn="l">
              <a:defRPr sz="1350" b="1">
                <a:solidFill>
                  <a:srgbClr val="111827"/>
                </a:solidFill>
              </a:defRPr>
            </a:lvl4pPr>
            <a:lvl5pPr algn="l">
              <a:defRPr sz="1350" b="1">
                <a:solidFill>
                  <a:srgbClr val="111827"/>
                </a:solidFill>
              </a:defRPr>
            </a:lvl5pPr>
            <a:lvl6pPr algn="l">
              <a:defRPr sz="1350" b="1">
                <a:solidFill>
                  <a:srgbClr val="111827"/>
                </a:solidFill>
              </a:defRPr>
            </a:lvl6pPr>
            <a:lvl7pPr algn="l">
              <a:defRPr sz="1350" b="1">
                <a:solidFill>
                  <a:srgbClr val="111827"/>
                </a:solidFill>
              </a:defRPr>
            </a:lvl7pPr>
            <a:lvl8pPr algn="l">
              <a:defRPr sz="1350" b="1">
                <a:solidFill>
                  <a:srgbClr val="111827"/>
                </a:solidFill>
              </a:defRPr>
            </a:lvl8pPr>
            <a:lvl9pPr algn="l">
              <a:defRPr sz="13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Instances accept port 3000 only from the ALB security group.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6FBC4-872D-4EB2-9178-41D95667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E7D8E-3B7D-4C4E-9BF1-B2E56778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9115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73D37-116E-4A6F-B287-6832527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CHAOS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2388D-497B-477A-8A89-306FA680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The measured outage met 180 seconds but missed 60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C3336-ECD5-44A4-BA40-942A0039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4A6B52D-4F17-4F0F-B5F6-CDC3C0269C4D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57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bb838c789947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43C21-16C5-49C0-8A5B-958B072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35741-1FA6-48F4-A83F-8C4B7096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6A34A"/>
                </a:solidFill>
              </a:defRPr>
            </a:defPPr>
            <a:lvl1pPr algn="l">
              <a:defRPr sz="1875" b="1">
                <a:solidFill>
                  <a:srgbClr val="16A34A"/>
                </a:solidFill>
              </a:defRPr>
            </a:lvl1pPr>
            <a:lvl2pPr algn="l">
              <a:defRPr sz="1875" b="1">
                <a:solidFill>
                  <a:srgbClr val="16A34A"/>
                </a:solidFill>
              </a:defRPr>
            </a:lvl2pPr>
            <a:lvl3pPr algn="l">
              <a:defRPr sz="1875" b="1">
                <a:solidFill>
                  <a:srgbClr val="16A34A"/>
                </a:solidFill>
              </a:defRPr>
            </a:lvl3pPr>
            <a:lvl4pPr algn="l">
              <a:defRPr sz="1875" b="1">
                <a:solidFill>
                  <a:srgbClr val="16A34A"/>
                </a:solidFill>
              </a:defRPr>
            </a:lvl4pPr>
            <a:lvl5pPr algn="l">
              <a:defRPr sz="1875" b="1">
                <a:solidFill>
                  <a:srgbClr val="16A34A"/>
                </a:solidFill>
              </a:defRPr>
            </a:lvl5pPr>
            <a:lvl6pPr algn="l">
              <a:defRPr sz="1875" b="1">
                <a:solidFill>
                  <a:srgbClr val="16A34A"/>
                </a:solidFill>
              </a:defRPr>
            </a:lvl6pPr>
            <a:lvl7pPr algn="l">
              <a:defRPr sz="1875" b="1">
                <a:solidFill>
                  <a:srgbClr val="16A34A"/>
                </a:solidFill>
              </a:defRPr>
            </a:lvl7pPr>
            <a:lvl8pPr algn="l">
              <a:defRPr sz="1875" b="1">
                <a:solidFill>
                  <a:srgbClr val="16A34A"/>
                </a:solidFill>
              </a:defRPr>
            </a:lvl8pPr>
            <a:lvl9pPr algn="l">
              <a:defRPr sz="1875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3FF69-F4AD-4FD2-BF22-B20068FC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77.49 s ≤ 180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7DE9E-81D9-4CD2-9EAF-64BCF63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A6D1C-DAC9-4797-AD75-EEA54B53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DC2626"/>
                </a:solidFill>
              </a:defRPr>
            </a:defPPr>
            <a:lvl1pPr algn="l">
              <a:defRPr sz="1875" b="1">
                <a:solidFill>
                  <a:srgbClr val="DC2626"/>
                </a:solidFill>
              </a:defRPr>
            </a:lvl1pPr>
            <a:lvl2pPr algn="l">
              <a:defRPr sz="1875" b="1">
                <a:solidFill>
                  <a:srgbClr val="DC2626"/>
                </a:solidFill>
              </a:defRPr>
            </a:lvl2pPr>
            <a:lvl3pPr algn="l">
              <a:defRPr sz="1875" b="1">
                <a:solidFill>
                  <a:srgbClr val="DC2626"/>
                </a:solidFill>
              </a:defRPr>
            </a:lvl3pPr>
            <a:lvl4pPr algn="l">
              <a:defRPr sz="1875" b="1">
                <a:solidFill>
                  <a:srgbClr val="DC2626"/>
                </a:solidFill>
              </a:defRPr>
            </a:lvl4pPr>
            <a:lvl5pPr algn="l">
              <a:defRPr sz="1875" b="1">
                <a:solidFill>
                  <a:srgbClr val="DC2626"/>
                </a:solidFill>
              </a:defRPr>
            </a:lvl5pPr>
            <a:lvl6pPr algn="l">
              <a:defRPr sz="1875" b="1">
                <a:solidFill>
                  <a:srgbClr val="DC2626"/>
                </a:solidFill>
              </a:defRPr>
            </a:lvl6pPr>
            <a:lvl7pPr algn="l">
              <a:defRPr sz="1875" b="1">
                <a:solidFill>
                  <a:srgbClr val="DC2626"/>
                </a:solidFill>
              </a:defRPr>
            </a:lvl7pPr>
            <a:lvl8pPr algn="l">
              <a:defRPr sz="1875" b="1">
                <a:solidFill>
                  <a:srgbClr val="DC2626"/>
                </a:solidFill>
              </a:defRPr>
            </a:lvl8pPr>
            <a:lvl9pPr algn="l">
              <a:defRPr sz="18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8FFF1-84C9-483B-93FD-1B6CAC4F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81.57 s &gt; 60 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F3DAD-545F-4CAF-BF5C-3FCB10D510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51578c23b41dc"/>
          <a:stretch xmlns:a="http://schemas.openxmlformats.org/drawingml/2006/main"/>
        </p:blipFill>
        <p:spPr>
          <a:xfrm xmlns:a="http://schemas.openxmlformats.org/drawingml/2006/main">
            <a:off x="7677150" y="5135284"/>
            <a:ext cx="3486150" cy="245033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511FE-2AB3-44E5-BB9E-BA76580D2E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10ee91b954117"/>
          <a:stretch xmlns:a="http://schemas.openxmlformats.org/drawingml/2006/main"/>
        </p:blipFill>
        <p:spPr>
          <a:xfrm xmlns:a="http://schemas.openxmlformats.org/drawingml/2006/main">
            <a:off x="7677150" y="5533226"/>
            <a:ext cx="3486150" cy="32544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2D0C8-25B0-4F51-8BCF-A2904113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801F3-0CF3-4F21-B57E-D06E404C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461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F58B8-9367-4F87-84C3-1E8AC7CE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83DB3-96FD-40A1-9D6C-90EEA78A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Instance replacement dominated the recovery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2B11B-F4EA-4FA0-A8C6-C1974C2B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3F32E-E9E9-4DD0-AB98-BAFFDF36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6F6F4-021B-4755-B732-206F8AB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Observed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19C20-A62D-480B-9BBF-7BF5E3EA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2.22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379A6-77F1-42D3-AE1A-88A58EAC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717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First failed probe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3530B-D511-442D-9594-BA387140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≈75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58334-2683-4FBD-8C34-B6CBE92C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528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ASG launches EC2 and runs user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2CC89-D917-4D5B-BC7E-B518D5B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77.49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E6688-BAF3-4B16-B320-B29A506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338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Service returns after target becomes healthy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E21FF-8BFE-4713-A550-782D0889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 2-second polling interval only improves measurement precision. It does not shorten EC2 boot, package installation, application startup, or ALB health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69EB0-3B4A-48EC-9632-71BA5CC7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BF73D-7116-4D18-81F8-BD44F64B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chaos_test.py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D5354-FE30-43A5-85E7-97BDA64B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343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terminate_instance_via_asg(instance_id, region)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while True: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is_up = probe_once(url)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writer.writerow([now, elapsed, is_up, ...])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if down_detected and is_up: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recovery_time = now - outage_start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break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verdict = recovery_time &lt;= slo_seconds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E1482-04A4-4F4C-9C2A-106A729C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551C5-7E96-4025-B0B3-632BA89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9782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9E1B7-5A98-462A-90BD-4A6B7803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0D6C0-5339-4FFB-91C5-E635F45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ASGs replaced direct EC2 launches and enabled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80C67-4582-4DC4-9110-7AFEC7B7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8A866-8BD3-4292-958A-7B2A7F15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64748B"/>
                </a:solidFill>
              </a:defRPr>
            </a:defPPr>
            <a:lvl1pPr algn="l">
              <a:defRPr sz="1725" b="1">
                <a:solidFill>
                  <a:srgbClr val="64748B"/>
                </a:solidFill>
              </a:defRPr>
            </a:lvl1pPr>
            <a:lvl2pPr algn="l">
              <a:defRPr sz="1725" b="1">
                <a:solidFill>
                  <a:srgbClr val="64748B"/>
                </a:solidFill>
              </a:defRPr>
            </a:lvl2pPr>
            <a:lvl3pPr algn="l">
              <a:defRPr sz="1725" b="1">
                <a:solidFill>
                  <a:srgbClr val="64748B"/>
                </a:solidFill>
              </a:defRPr>
            </a:lvl3pPr>
            <a:lvl4pPr algn="l">
              <a:defRPr sz="1725" b="1">
                <a:solidFill>
                  <a:srgbClr val="64748B"/>
                </a:solidFill>
              </a:defRPr>
            </a:lvl4pPr>
            <a:lvl5pPr algn="l">
              <a:defRPr sz="1725" b="1">
                <a:solidFill>
                  <a:srgbClr val="64748B"/>
                </a:solidFill>
              </a:defRPr>
            </a:lvl5pPr>
            <a:lvl6pPr algn="l">
              <a:defRPr sz="1725" b="1">
                <a:solidFill>
                  <a:srgbClr val="64748B"/>
                </a:solidFill>
              </a:defRPr>
            </a:lvl6pPr>
            <a:lvl7pPr algn="l">
              <a:defRPr sz="1725" b="1">
                <a:solidFill>
                  <a:srgbClr val="64748B"/>
                </a:solidFill>
              </a:defRPr>
            </a:lvl7pPr>
            <a:lvl8pPr algn="l">
              <a:defRPr sz="1725" b="1">
                <a:solidFill>
                  <a:srgbClr val="64748B"/>
                </a:solidFill>
              </a:defRPr>
            </a:lvl8pPr>
            <a:lvl9pPr algn="l">
              <a:defRPr sz="17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4748B"/>
                </a:solidFill>
              </a:defRPr>
            </a:pPr>
            <a:r>
              <a:rPr sz="1725" b="1">
                <a:solidFill>
                  <a:srgbClr val="64748B"/>
                </a:solidFill>
              </a:rPr>
              <a:t>Previous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161CD-D429-45B9-8F61-8445D6C0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2DA92-1672-4FC4-A396-2BB66793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DC2626"/>
                </a:solidFill>
              </a:defRPr>
            </a:defPPr>
            <a:lvl1pPr algn="ctr">
              <a:defRPr sz="1575" b="1">
                <a:solidFill>
                  <a:srgbClr val="DC2626"/>
                </a:solidFill>
              </a:defRPr>
            </a:lvl1pPr>
            <a:lvl2pPr algn="ctr">
              <a:defRPr sz="1575" b="1">
                <a:solidFill>
                  <a:srgbClr val="DC2626"/>
                </a:solidFill>
              </a:defRPr>
            </a:lvl2pPr>
            <a:lvl3pPr algn="ctr">
              <a:defRPr sz="1575" b="1">
                <a:solidFill>
                  <a:srgbClr val="DC2626"/>
                </a:solidFill>
              </a:defRPr>
            </a:lvl3pPr>
            <a:lvl4pPr algn="ctr">
              <a:defRPr sz="1575" b="1">
                <a:solidFill>
                  <a:srgbClr val="DC2626"/>
                </a:solidFill>
              </a:defRPr>
            </a:lvl4pPr>
            <a:lvl5pPr algn="ctr">
              <a:defRPr sz="1575" b="1">
                <a:solidFill>
                  <a:srgbClr val="DC2626"/>
                </a:solidFill>
              </a:defRPr>
            </a:lvl5pPr>
            <a:lvl6pPr algn="ctr">
              <a:defRPr sz="1575" b="1">
                <a:solidFill>
                  <a:srgbClr val="DC2626"/>
                </a:solidFill>
              </a:defRPr>
            </a:lvl6pPr>
            <a:lvl7pPr algn="ctr">
              <a:defRPr sz="1575" b="1">
                <a:solidFill>
                  <a:srgbClr val="DC2626"/>
                </a:solidFill>
              </a:defRPr>
            </a:lvl7pPr>
            <a:lvl8pPr algn="ctr">
              <a:defRPr sz="1575" b="1">
                <a:solidFill>
                  <a:srgbClr val="DC2626"/>
                </a:solidFill>
              </a:defRPr>
            </a:lvl8pPr>
            <a:lvl9pPr algn="ctr">
              <a:defRPr sz="15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C2626"/>
                </a:solidFill>
              </a:defRPr>
            </a:pPr>
            <a:r>
              <a:rPr sz="1575" b="1">
                <a:solidFill>
                  <a:srgbClr val="DC2626"/>
                </a:solidFill>
              </a:rPr>
              <a:t>aws ec2 run-instances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692E5-81D6-4C82-ACF7-CE97068A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</a:defRPr>
            </a:defPPr>
            <a:lvl1pPr algn="l">
              <a:defRPr sz="1725" b="1">
                <a:solidFill>
                  <a:srgbClr val="2563EB"/>
                </a:solidFill>
              </a:defRPr>
            </a:lvl1pPr>
            <a:lvl2pPr algn="l">
              <a:defRPr sz="1725" b="1">
                <a:solidFill>
                  <a:srgbClr val="2563EB"/>
                </a:solidFill>
              </a:defRPr>
            </a:lvl2pPr>
            <a:lvl3pPr algn="l">
              <a:defRPr sz="1725" b="1">
                <a:solidFill>
                  <a:srgbClr val="2563EB"/>
                </a:solidFill>
              </a:defRPr>
            </a:lvl3pPr>
            <a:lvl4pPr algn="l">
              <a:defRPr sz="1725" b="1">
                <a:solidFill>
                  <a:srgbClr val="2563EB"/>
                </a:solidFill>
              </a:defRPr>
            </a:lvl4pPr>
            <a:lvl5pPr algn="l">
              <a:defRPr sz="1725" b="1">
                <a:solidFill>
                  <a:srgbClr val="2563EB"/>
                </a:solidFill>
              </a:defRPr>
            </a:lvl5pPr>
            <a:lvl6pPr algn="l">
              <a:defRPr sz="1725" b="1">
                <a:solidFill>
                  <a:srgbClr val="2563EB"/>
                </a:solidFill>
              </a:defRPr>
            </a:lvl6pPr>
            <a:lvl7pPr algn="l">
              <a:defRPr sz="1725" b="1">
                <a:solidFill>
                  <a:srgbClr val="2563EB"/>
                </a:solidFill>
              </a:defRPr>
            </a:lvl7pPr>
            <a:lvl8pPr algn="l">
              <a:defRPr sz="1725" b="1">
                <a:solidFill>
                  <a:srgbClr val="2563EB"/>
                </a:solidFill>
              </a:defRPr>
            </a:lvl8pPr>
            <a:lvl9pPr algn="l">
              <a:defRPr sz="17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Current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14602-EC07-4421-9F11-83B67DDA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619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E4AF0-FF4C-49DF-AB80-1B7C37C0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558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D4ED8"/>
                </a:solidFill>
              </a:defRPr>
            </a:defPPr>
            <a:lvl1pPr algn="ctr">
              <a:defRPr sz="1650" b="1">
                <a:solidFill>
                  <a:srgbClr val="1D4ED8"/>
                </a:solidFill>
              </a:defRPr>
            </a:lvl1pPr>
            <a:lvl2pPr algn="ctr">
              <a:defRPr sz="1650" b="1">
                <a:solidFill>
                  <a:srgbClr val="1D4ED8"/>
                </a:solidFill>
              </a:defRPr>
            </a:lvl2pPr>
            <a:lvl3pPr algn="ctr">
              <a:defRPr sz="1650" b="1">
                <a:solidFill>
                  <a:srgbClr val="1D4ED8"/>
                </a:solidFill>
              </a:defRPr>
            </a:lvl3pPr>
            <a:lvl4pPr algn="ctr">
              <a:defRPr sz="1650" b="1">
                <a:solidFill>
                  <a:srgbClr val="1D4ED8"/>
                </a:solidFill>
              </a:defRPr>
            </a:lvl4pPr>
            <a:lvl5pPr algn="ctr">
              <a:defRPr sz="1650" b="1">
                <a:solidFill>
                  <a:srgbClr val="1D4ED8"/>
                </a:solidFill>
              </a:defRPr>
            </a:lvl5pPr>
            <a:lvl6pPr algn="ctr">
              <a:defRPr sz="1650" b="1">
                <a:solidFill>
                  <a:srgbClr val="1D4ED8"/>
                </a:solidFill>
              </a:defRPr>
            </a:lvl6pPr>
            <a:lvl7pPr algn="ctr">
              <a:defRPr sz="1650" b="1">
                <a:solidFill>
                  <a:srgbClr val="1D4ED8"/>
                </a:solidFill>
              </a:defRPr>
            </a:lvl7pPr>
            <a:lvl8pPr algn="ctr">
              <a:defRPr sz="1650" b="1">
                <a:solidFill>
                  <a:srgbClr val="1D4ED8"/>
                </a:solidFill>
              </a:defRPr>
            </a:lvl8pPr>
            <a:lvl9pPr algn="ctr">
              <a:defRPr sz="16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Launch Templates + Target Groups + Auto Scaling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8F58E-8F07-4316-AA8A-B2A47E47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0">
                <a:solidFill>
                  <a:srgbClr val="111827"/>
                </a:solidFill>
              </a:defRPr>
            </a:defPPr>
            <a:lvl1pPr algn="ctr">
              <a:defRPr sz="1575" b="0">
                <a:solidFill>
                  <a:srgbClr val="111827"/>
                </a:solidFill>
              </a:defRPr>
            </a:lvl1pPr>
            <a:lvl2pPr algn="ctr">
              <a:defRPr sz="1575" b="0">
                <a:solidFill>
                  <a:srgbClr val="111827"/>
                </a:solidFill>
              </a:defRPr>
            </a:lvl2pPr>
            <a:lvl3pPr algn="ctr">
              <a:defRPr sz="1575" b="0">
                <a:solidFill>
                  <a:srgbClr val="111827"/>
                </a:solidFill>
              </a:defRPr>
            </a:lvl3pPr>
            <a:lvl4pPr algn="ctr">
              <a:defRPr sz="1575" b="0">
                <a:solidFill>
                  <a:srgbClr val="111827"/>
                </a:solidFill>
              </a:defRPr>
            </a:lvl4pPr>
            <a:lvl5pPr algn="ctr">
              <a:defRPr sz="1575" b="0">
                <a:solidFill>
                  <a:srgbClr val="111827"/>
                </a:solidFill>
              </a:defRPr>
            </a:lvl5pPr>
            <a:lvl6pPr algn="ctr">
              <a:defRPr sz="1575" b="0">
                <a:solidFill>
                  <a:srgbClr val="111827"/>
                </a:solidFill>
              </a:defRPr>
            </a:lvl6pPr>
            <a:lvl7pPr algn="ctr">
              <a:defRPr sz="1575" b="0">
                <a:solidFill>
                  <a:srgbClr val="111827"/>
                </a:solidFill>
              </a:defRPr>
            </a:lvl7pPr>
            <a:lvl8pPr algn="ctr">
              <a:defRPr sz="1575" b="0">
                <a:solidFill>
                  <a:srgbClr val="111827"/>
                </a:solidFill>
              </a:defRPr>
            </a:lvl8pPr>
            <a:lvl9pPr algn="ctr">
              <a:defRPr sz="1575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ASGs maintain desired capacity at 1, attach replacements to the target groups, and let the ALB remove unhealthy targets from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30DF7-44C5-4D90-AB16-88298D02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324BB-55A7-421D-95A2-401DB7712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578296d2648c1"/>
          <a:stretch xmlns:a="http://schemas.openxmlformats.org/drawingml/2006/main"/>
        </p:blipFill>
        <p:spPr>
          <a:xfrm xmlns:a="http://schemas.openxmlformats.org/drawingml/2006/main">
            <a:off x="1981342" y="4800600"/>
            <a:ext cx="2514317" cy="1066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F061C-CB2F-4C9C-8A31-1AC4F2CE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86EFAC"/>
                </a:solidFill>
              </a:defRPr>
            </a:defPPr>
            <a:lvl1pPr algn="l">
              <a:defRPr sz="1875" b="1">
                <a:solidFill>
                  <a:srgbClr val="86EFAC"/>
                </a:solidFill>
              </a:defRPr>
            </a:lvl1pPr>
            <a:lvl2pPr algn="l">
              <a:defRPr sz="1875" b="1">
                <a:solidFill>
                  <a:srgbClr val="86EFAC"/>
                </a:solidFill>
              </a:defRPr>
            </a:lvl2pPr>
            <a:lvl3pPr algn="l">
              <a:defRPr sz="1875" b="1">
                <a:solidFill>
                  <a:srgbClr val="86EFAC"/>
                </a:solidFill>
              </a:defRPr>
            </a:lvl3pPr>
            <a:lvl4pPr algn="l">
              <a:defRPr sz="1875" b="1">
                <a:solidFill>
                  <a:srgbClr val="86EFAC"/>
                </a:solidFill>
              </a:defRPr>
            </a:lvl4pPr>
            <a:lvl5pPr algn="l">
              <a:defRPr sz="1875" b="1">
                <a:solidFill>
                  <a:srgbClr val="86EFAC"/>
                </a:solidFill>
              </a:defRPr>
            </a:lvl5pPr>
            <a:lvl6pPr algn="l">
              <a:defRPr sz="1875" b="1">
                <a:solidFill>
                  <a:srgbClr val="86EFAC"/>
                </a:solidFill>
              </a:defRPr>
            </a:lvl6pPr>
            <a:lvl7pPr algn="l">
              <a:defRPr sz="1875" b="1">
                <a:solidFill>
                  <a:srgbClr val="86EFAC"/>
                </a:solidFill>
              </a:defRPr>
            </a:lvl7pPr>
            <a:lvl8pPr algn="l">
              <a:defRPr sz="1875" b="1">
                <a:solidFill>
                  <a:srgbClr val="86EFAC"/>
                </a:solidFill>
              </a:defRPr>
            </a:lvl8pPr>
            <a:lvl9pPr algn="l">
              <a:defRPr sz="1875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6EFAC"/>
                </a:solidFill>
              </a:defRPr>
            </a:pPr>
            <a:r>
              <a:rPr sz="1875" b="1">
                <a:solidFill>
                  <a:srgbClr val="86EFAC"/>
                </a:solidFill>
              </a:rPr>
              <a:t>Cleanup 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33D76-B523-4AFF-B547-F63588A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ASGs, ALB, target groups, security rules, IAM resources, and the S3 bucket were removed in dependency 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96335-31C7-4D6D-A622-62F99409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82502-173B-4170-B148-EBAAECEB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77012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2026-10-29T08:06:45.8240000Z</dcterms:created>
  <dcterms:modified xsi:type="dcterms:W3CDTF">2026-10-29T08:06:45.8240000Z</dcterms:modified>
</coreProperties>
</file>